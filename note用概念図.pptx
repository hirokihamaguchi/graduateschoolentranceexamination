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62" d="100"/>
          <a:sy n="62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9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1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8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0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4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9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7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6B01D-FBDA-490E-BD6C-5655AF9ABF9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E59D3-84DE-464D-8F4D-0E70E9C78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08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6890D39-0EF7-4084-3354-6637977D1691}"/>
              </a:ext>
            </a:extLst>
          </p:cNvPr>
          <p:cNvCxnSpPr>
            <a:cxnSpLocks/>
          </p:cNvCxnSpPr>
          <p:nvPr/>
        </p:nvCxnSpPr>
        <p:spPr>
          <a:xfrm flipV="1">
            <a:off x="1662703" y="1606550"/>
            <a:ext cx="2438400" cy="12699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8E6A144-E50F-99D9-50FA-62319AD0E5DF}"/>
              </a:ext>
            </a:extLst>
          </p:cNvPr>
          <p:cNvCxnSpPr>
            <a:cxnSpLocks/>
          </p:cNvCxnSpPr>
          <p:nvPr/>
        </p:nvCxnSpPr>
        <p:spPr>
          <a:xfrm>
            <a:off x="1510303" y="692150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グラフィックス 13" descr="クリップボード 単色塗りつぶし">
            <a:extLst>
              <a:ext uri="{FF2B5EF4-FFF2-40B4-BE49-F238E27FC236}">
                <a16:creationId xmlns:a16="http://schemas.microsoft.com/office/drawing/2014/main" id="{6CAAC82B-A7DD-5650-5EE6-A9CDAB088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2667000"/>
            <a:ext cx="914400" cy="914400"/>
          </a:xfrm>
          <a:prstGeom prst="rect">
            <a:avLst/>
          </a:prstGeom>
        </p:spPr>
      </p:pic>
      <p:pic>
        <p:nvPicPr>
          <p:cNvPr id="17" name="グラフィックス 16" descr="オンライン会議 単色塗りつぶし">
            <a:extLst>
              <a:ext uri="{FF2B5EF4-FFF2-40B4-BE49-F238E27FC236}">
                <a16:creationId xmlns:a16="http://schemas.microsoft.com/office/drawing/2014/main" id="{A685E533-84DA-6677-C463-66D124639F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9503" y="2667000"/>
            <a:ext cx="914400" cy="914400"/>
          </a:xfrm>
          <a:prstGeom prst="rect">
            <a:avLst/>
          </a:prstGeom>
        </p:spPr>
      </p:pic>
      <p:pic>
        <p:nvPicPr>
          <p:cNvPr id="19" name="グラフィックス 18" descr="分岐路 単色塗りつぶし">
            <a:extLst>
              <a:ext uri="{FF2B5EF4-FFF2-40B4-BE49-F238E27FC236}">
                <a16:creationId xmlns:a16="http://schemas.microsoft.com/office/drawing/2014/main" id="{0F20903B-D05B-19F8-D433-A2E098F3D4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103" y="2667000"/>
            <a:ext cx="914400" cy="914400"/>
          </a:xfrm>
          <a:prstGeom prst="rect">
            <a:avLst/>
          </a:prstGeom>
        </p:spPr>
      </p:pic>
      <p:pic>
        <p:nvPicPr>
          <p:cNvPr id="21" name="グラフィックス 20" descr="卒業証書 単色塗りつぶし">
            <a:extLst>
              <a:ext uri="{FF2B5EF4-FFF2-40B4-BE49-F238E27FC236}">
                <a16:creationId xmlns:a16="http://schemas.microsoft.com/office/drawing/2014/main" id="{962F58AD-9E4B-4CF5-AC24-E19BF60789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82703" y="2667000"/>
            <a:ext cx="914400" cy="914400"/>
          </a:xfrm>
          <a:prstGeom prst="rect">
            <a:avLst/>
          </a:prstGeom>
        </p:spPr>
      </p:pic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3CC9CA93-04FB-1C4A-4B1E-24D165F9EAF9}"/>
              </a:ext>
            </a:extLst>
          </p:cNvPr>
          <p:cNvCxnSpPr>
            <a:cxnSpLocks/>
          </p:cNvCxnSpPr>
          <p:nvPr/>
        </p:nvCxnSpPr>
        <p:spPr>
          <a:xfrm flipV="1">
            <a:off x="4405903" y="1593851"/>
            <a:ext cx="2438400" cy="12699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6BBCADA5-C2E8-F87F-F3CD-5B87577FDAAD}"/>
              </a:ext>
            </a:extLst>
          </p:cNvPr>
          <p:cNvCxnSpPr>
            <a:cxnSpLocks/>
          </p:cNvCxnSpPr>
          <p:nvPr/>
        </p:nvCxnSpPr>
        <p:spPr>
          <a:xfrm>
            <a:off x="4253503" y="679451"/>
            <a:ext cx="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80D52878-2D06-1A58-E012-40A39B2FF731}"/>
              </a:ext>
            </a:extLst>
          </p:cNvPr>
          <p:cNvCxnSpPr>
            <a:cxnSpLocks/>
          </p:cNvCxnSpPr>
          <p:nvPr/>
        </p:nvCxnSpPr>
        <p:spPr>
          <a:xfrm flipV="1">
            <a:off x="7149105" y="1600200"/>
            <a:ext cx="2438400" cy="12699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D6A3C04B-48D0-BFB6-893B-09FE94F62150}"/>
              </a:ext>
            </a:extLst>
          </p:cNvPr>
          <p:cNvCxnSpPr>
            <a:cxnSpLocks/>
          </p:cNvCxnSpPr>
          <p:nvPr/>
        </p:nvCxnSpPr>
        <p:spPr>
          <a:xfrm>
            <a:off x="6996705" y="685800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AFFC064-20C7-7FD6-8E66-132901853953}"/>
              </a:ext>
            </a:extLst>
          </p:cNvPr>
          <p:cNvCxnSpPr>
            <a:cxnSpLocks/>
          </p:cNvCxnSpPr>
          <p:nvPr/>
        </p:nvCxnSpPr>
        <p:spPr>
          <a:xfrm>
            <a:off x="9739903" y="692150"/>
            <a:ext cx="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453AB46-AB64-B306-E634-99E7E019CC75}"/>
              </a:ext>
            </a:extLst>
          </p:cNvPr>
          <p:cNvSpPr txBox="1"/>
          <p:nvPr/>
        </p:nvSpPr>
        <p:spPr>
          <a:xfrm>
            <a:off x="1967503" y="763434"/>
            <a:ext cx="1842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学士課程</a:t>
            </a:r>
            <a:br>
              <a:rPr lang="en-US" altLang="ja-JP" sz="2400" b="1" dirty="0"/>
            </a:br>
            <a:r>
              <a:rPr lang="en-US" altLang="ja-JP" sz="2400" dirty="0"/>
              <a:t>(Bachelor)</a:t>
            </a:r>
            <a:endParaRPr lang="en-US" sz="24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54F1A35-89AC-2E16-3CF9-DDAE51DABE89}"/>
              </a:ext>
            </a:extLst>
          </p:cNvPr>
          <p:cNvSpPr txBox="1"/>
          <p:nvPr/>
        </p:nvSpPr>
        <p:spPr>
          <a:xfrm>
            <a:off x="4719265" y="759996"/>
            <a:ext cx="1842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chemeClr val="accent2"/>
                </a:solidFill>
              </a:rPr>
              <a:t>修士課程</a:t>
            </a:r>
            <a:br>
              <a:rPr lang="en-US" altLang="ja-JP" sz="2400" b="1" dirty="0">
                <a:solidFill>
                  <a:schemeClr val="accent2"/>
                </a:solidFill>
              </a:rPr>
            </a:br>
            <a:r>
              <a:rPr lang="en-US" altLang="ja-JP" sz="2400" dirty="0">
                <a:solidFill>
                  <a:schemeClr val="accent2"/>
                </a:solidFill>
              </a:rPr>
              <a:t>(Master)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A6F3BD-2E46-C2E1-7CC7-6A262729A84F}"/>
              </a:ext>
            </a:extLst>
          </p:cNvPr>
          <p:cNvSpPr txBox="1"/>
          <p:nvPr/>
        </p:nvSpPr>
        <p:spPr>
          <a:xfrm>
            <a:off x="7453903" y="757138"/>
            <a:ext cx="1842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博士課程</a:t>
            </a:r>
            <a:br>
              <a:rPr lang="en-US" altLang="ja-JP" sz="2400" b="1" dirty="0"/>
            </a:br>
            <a:r>
              <a:rPr lang="en-US" altLang="ja-JP" sz="2400" dirty="0"/>
              <a:t>(Docter)</a:t>
            </a:r>
            <a:endParaRPr lang="en-US" sz="24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50817F9-165F-92AA-3A1D-04F83D18AA2A}"/>
              </a:ext>
            </a:extLst>
          </p:cNvPr>
          <p:cNvSpPr txBox="1"/>
          <p:nvPr/>
        </p:nvSpPr>
        <p:spPr>
          <a:xfrm>
            <a:off x="1967503" y="1730207"/>
            <a:ext cx="1842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通常</a:t>
            </a:r>
            <a:r>
              <a:rPr lang="en-US" altLang="ja-JP" sz="2400" dirty="0"/>
              <a:t>4</a:t>
            </a:r>
            <a:r>
              <a:rPr lang="ja-JP" altLang="en-US" sz="2400" dirty="0"/>
              <a:t>年</a:t>
            </a:r>
            <a:endParaRPr lang="en-US" sz="24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A9D04D7-A569-CA2C-3AFE-F814F7113DBC}"/>
              </a:ext>
            </a:extLst>
          </p:cNvPr>
          <p:cNvSpPr txBox="1"/>
          <p:nvPr/>
        </p:nvSpPr>
        <p:spPr>
          <a:xfrm>
            <a:off x="4719265" y="1726769"/>
            <a:ext cx="1842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chemeClr val="accent2"/>
                </a:solidFill>
              </a:rPr>
              <a:t>通常</a:t>
            </a:r>
            <a:r>
              <a:rPr lang="en-US" altLang="ja-JP" sz="2400" dirty="0">
                <a:solidFill>
                  <a:schemeClr val="accent2"/>
                </a:solidFill>
              </a:rPr>
              <a:t>2</a:t>
            </a:r>
            <a:r>
              <a:rPr lang="ja-JP" altLang="en-US" sz="2400" dirty="0">
                <a:solidFill>
                  <a:schemeClr val="accent2"/>
                </a:solidFill>
              </a:rPr>
              <a:t>年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B627C9F-107C-AB96-5B13-D3E474CEC987}"/>
              </a:ext>
            </a:extLst>
          </p:cNvPr>
          <p:cNvSpPr txBox="1"/>
          <p:nvPr/>
        </p:nvSpPr>
        <p:spPr>
          <a:xfrm>
            <a:off x="7453903" y="1723911"/>
            <a:ext cx="1842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通常</a:t>
            </a:r>
            <a:r>
              <a:rPr lang="en-US" altLang="ja-JP" sz="2400" dirty="0"/>
              <a:t>3</a:t>
            </a:r>
            <a:r>
              <a:rPr lang="ja-JP" altLang="en-US" sz="2400" dirty="0"/>
              <a:t>年</a:t>
            </a:r>
            <a:endParaRPr lang="en-US" sz="2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9F7F935-DB51-54E4-9E3A-DEFAE731893E}"/>
              </a:ext>
            </a:extLst>
          </p:cNvPr>
          <p:cNvSpPr txBox="1"/>
          <p:nvPr/>
        </p:nvSpPr>
        <p:spPr>
          <a:xfrm>
            <a:off x="634002" y="3689972"/>
            <a:ext cx="1752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大学入試</a:t>
            </a:r>
            <a:br>
              <a:rPr lang="en-US" altLang="ja-JP" sz="2000" b="1" dirty="0"/>
            </a:br>
            <a:r>
              <a:rPr lang="ja-JP" altLang="en-US" sz="2000" b="1" dirty="0"/>
              <a:t>進振り</a:t>
            </a:r>
            <a:endParaRPr lang="en-US" sz="2000" b="1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15DBC22-CFF6-2180-39A7-5F942D01454D}"/>
              </a:ext>
            </a:extLst>
          </p:cNvPr>
          <p:cNvSpPr txBox="1"/>
          <p:nvPr/>
        </p:nvSpPr>
        <p:spPr>
          <a:xfrm>
            <a:off x="3377202" y="3689972"/>
            <a:ext cx="1752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accent2"/>
                </a:solidFill>
              </a:rPr>
              <a:t>院試</a:t>
            </a:r>
            <a:br>
              <a:rPr lang="en-US" altLang="ja-JP" sz="2000" b="1" dirty="0">
                <a:solidFill>
                  <a:schemeClr val="accent2"/>
                </a:solidFill>
              </a:rPr>
            </a:br>
            <a:r>
              <a:rPr lang="en-US" altLang="ja-JP" sz="2000" b="1" dirty="0">
                <a:solidFill>
                  <a:schemeClr val="accent2"/>
                </a:solidFill>
              </a:rPr>
              <a:t>(</a:t>
            </a:r>
            <a:r>
              <a:rPr lang="ja-JP" altLang="en-US" sz="2000" b="1" dirty="0">
                <a:solidFill>
                  <a:schemeClr val="accent2"/>
                </a:solidFill>
              </a:rPr>
              <a:t>筆記試験</a:t>
            </a:r>
            <a:r>
              <a:rPr lang="en-US" altLang="ja-JP" sz="2000" b="1" dirty="0">
                <a:solidFill>
                  <a:schemeClr val="accent2"/>
                </a:solidFill>
              </a:rPr>
              <a:t>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C00C66A-5E3E-5824-248C-834EE6C4F24A}"/>
              </a:ext>
            </a:extLst>
          </p:cNvPr>
          <p:cNvSpPr txBox="1"/>
          <p:nvPr/>
        </p:nvSpPr>
        <p:spPr>
          <a:xfrm>
            <a:off x="6158507" y="3689972"/>
            <a:ext cx="1752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院試</a:t>
            </a:r>
            <a:br>
              <a:rPr lang="en-US" altLang="ja-JP" sz="2000" b="1" dirty="0"/>
            </a:br>
            <a:r>
              <a:rPr lang="en-US" altLang="ja-JP" sz="2000" b="1" dirty="0"/>
              <a:t>(</a:t>
            </a:r>
            <a:r>
              <a:rPr lang="ja-JP" altLang="en-US" sz="2000" b="1" dirty="0"/>
              <a:t>プレゼン</a:t>
            </a:r>
            <a:r>
              <a:rPr lang="en-US" altLang="ja-JP" sz="2000" b="1" dirty="0"/>
              <a:t>)</a:t>
            </a:r>
            <a:endParaRPr lang="en-US" sz="2000" b="1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DC5F161-B3D5-776D-B5CA-517154E4E194}"/>
              </a:ext>
            </a:extLst>
          </p:cNvPr>
          <p:cNvSpPr txBox="1"/>
          <p:nvPr/>
        </p:nvSpPr>
        <p:spPr>
          <a:xfrm>
            <a:off x="8863602" y="3843860"/>
            <a:ext cx="175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博士号</a:t>
            </a:r>
            <a:endParaRPr lang="en-US" sz="2000" b="1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2ADE3756-BD7E-9F75-9E62-7A6F81E9CF03}"/>
              </a:ext>
            </a:extLst>
          </p:cNvPr>
          <p:cNvSpPr txBox="1"/>
          <p:nvPr/>
        </p:nvSpPr>
        <p:spPr>
          <a:xfrm>
            <a:off x="900702" y="4638768"/>
            <a:ext cx="944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※</a:t>
            </a:r>
            <a:r>
              <a:rPr lang="ja-JP" altLang="en-US" dirty="0"/>
              <a:t>　あくまで筆者の場合です。進路に応じて、多数の例外が存在します。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6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64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浜口　広樹</dc:creator>
  <cp:lastModifiedBy>浜口　広樹</cp:lastModifiedBy>
  <cp:revision>3</cp:revision>
  <dcterms:created xsi:type="dcterms:W3CDTF">2026-01-14T02:06:45Z</dcterms:created>
  <dcterms:modified xsi:type="dcterms:W3CDTF">2026-01-19T00:09:50Z</dcterms:modified>
</cp:coreProperties>
</file>